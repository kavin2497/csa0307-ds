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73" r:id="rId3"/>
    <p:sldId id="257" r:id="rId4"/>
    <p:sldId id="258" r:id="rId5"/>
    <p:sldId id="274" r:id="rId6"/>
    <p:sldId id="261" r:id="rId7"/>
    <p:sldId id="275" r:id="rId8"/>
    <p:sldId id="264" r:id="rId9"/>
    <p:sldId id="269" r:id="rId10"/>
    <p:sldId id="272" r:id="rId11"/>
    <p:sldId id="271" r:id="rId12"/>
    <p:sldId id="27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 varScale="1">
        <p:scale>
          <a:sx n="94" d="100"/>
          <a:sy n="94" d="100"/>
        </p:scale>
        <p:origin x="110" y="1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urushoth V" userId="3f6590d6d04aaca8" providerId="LiveId" clId="{E310A733-1F54-4A43-AAD2-135757275D45}"/>
    <pc:docChg chg="modSld">
      <pc:chgData name="Purushoth V" userId="3f6590d6d04aaca8" providerId="LiveId" clId="{E310A733-1F54-4A43-AAD2-135757275D45}" dt="2026-07-20T00:31:01.124" v="0" actId="20577"/>
      <pc:docMkLst>
        <pc:docMk/>
      </pc:docMkLst>
      <pc:sldChg chg="modSp mod">
        <pc:chgData name="Purushoth V" userId="3f6590d6d04aaca8" providerId="LiveId" clId="{E310A733-1F54-4A43-AAD2-135757275D45}" dt="2026-07-20T00:31:01.124" v="0" actId="20577"/>
        <pc:sldMkLst>
          <pc:docMk/>
          <pc:sldMk cId="2138515245" sldId="269"/>
        </pc:sldMkLst>
        <pc:spChg chg="mod">
          <ac:chgData name="Purushoth V" userId="3f6590d6d04aaca8" providerId="LiveId" clId="{E310A733-1F54-4A43-AAD2-135757275D45}" dt="2026-07-20T00:31:01.124" v="0" actId="20577"/>
          <ac:spMkLst>
            <pc:docMk/>
            <pc:sldMk cId="2138515245" sldId="269"/>
            <ac:spMk id="2" creationId="{BE5D3CD4-211D-8559-84F2-43487049D64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9F372A-A583-4537-9B37-D2C0D3062AC9}" type="datetimeFigureOut">
              <a:rPr lang="en-IN" smtClean="0"/>
              <a:pPr/>
              <a:t>27-07-2026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03581E-B615-4E2C-92F0-5652796D138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911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3581E-B615-4E2C-92F0-5652796D138A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5730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3581E-B615-4E2C-92F0-5652796D138A}" type="slidenum">
              <a:rPr lang="en-IN" smtClean="0"/>
              <a:pPr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6581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7BBE7-5F06-5BFA-C4BF-60A8652B94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3C4D9C-EF55-F0C3-2B88-945EA045B9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DEEC8-F6DC-1F8F-7C24-BCF3C3C9F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E3C06-9D0B-4F97-833D-9A2DBA8E5204}" type="datetimeFigureOut">
              <a:rPr lang="en-IN" smtClean="0"/>
              <a:pPr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17BDC-F17F-9FF8-857F-E3C25BE9A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57B95-661D-3F7C-4463-E50F2CF4E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C66EA-E919-4980-A300-794C648409F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6382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AEDA0-59ED-097D-3876-DAED579DC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93F6B-B4AA-7A3F-FE7A-94FB3A187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6558E-B70C-4F13-D1C1-5E63BD48B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E3C06-9D0B-4F97-833D-9A2DBA8E5204}" type="datetimeFigureOut">
              <a:rPr lang="en-IN" smtClean="0"/>
              <a:pPr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27B821-8326-D64F-B32D-E031A69FA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3EB22-CDDF-E928-3DAF-9AA320338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C66EA-E919-4980-A300-794C648409F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3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137BD-0018-B578-0C0F-9BDECB87C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14693-938A-6A8F-96FD-626E4A505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5C9A8-1602-5121-8F60-19A775FA8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E3C06-9D0B-4F97-833D-9A2DBA8E5204}" type="datetimeFigureOut">
              <a:rPr lang="en-IN" smtClean="0"/>
              <a:pPr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60E06-1D5D-26C9-8123-CD3C5985F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7A748-7F8B-DA92-A569-5F1C906B1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C66EA-E919-4980-A300-794C648409F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2434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A341C-E8F9-7FBF-3619-D11FE1344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B6CE0-2797-1B82-7992-73BD6688F9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156411-7889-9C4D-16DB-C520D3A4BC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8A6F16-2A4A-1741-5216-E0E77AAE8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E3C06-9D0B-4F97-833D-9A2DBA8E5204}" type="datetimeFigureOut">
              <a:rPr lang="en-IN" smtClean="0"/>
              <a:pPr/>
              <a:t>27-07-2026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FCE17A-B924-8DE4-4CB8-CDD12424B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E7A498-3FBB-5288-0E18-FDCF725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C66EA-E919-4980-A300-794C648409F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807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6C9B6-6F79-5ED9-2F22-417EE6349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0C29CF-D65C-F9B9-CDA6-6A79AB3D0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5456D3-D4F4-7A42-7A0B-9624EF4B5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5B5FE3-24CA-3D26-A1F5-2456AD148A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43C5B4-B0B7-872F-404B-C07222BDA6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9C2D54-85E3-C5FB-49AA-F890AE8D5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E3C06-9D0B-4F97-833D-9A2DBA8E5204}" type="datetimeFigureOut">
              <a:rPr lang="en-IN" smtClean="0"/>
              <a:pPr/>
              <a:t>27-07-2026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33ABF2-1F13-22B4-8FFF-5FD04BDE8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2A5294-C355-F895-8F47-2A11AEDB2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C66EA-E919-4980-A300-794C648409F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4846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67463-AE7A-A3CE-39DF-5D135B3D5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9EECE7-CB11-107C-73AD-E43CC224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E3C06-9D0B-4F97-833D-9A2DBA8E5204}" type="datetimeFigureOut">
              <a:rPr lang="en-IN" smtClean="0"/>
              <a:pPr/>
              <a:t>27-07-2026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2A914F-ACB6-1026-19E4-25CACABB7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71ECE6-AB47-B1FD-AA7C-59EEFCADF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C66EA-E919-4980-A300-794C648409F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500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4F1CBC-7AA4-F906-70FF-95DB66D4B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E3C06-9D0B-4F97-833D-9A2DBA8E5204}" type="datetimeFigureOut">
              <a:rPr lang="en-IN" smtClean="0"/>
              <a:pPr/>
              <a:t>27-07-2026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6DA1FA-BE2B-3199-F4C2-729E66222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7E45B-59A3-4978-784F-C404E0BF5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C66EA-E919-4980-A300-794C648409F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2223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6E02A-4FE0-9F34-DD0C-C2D28C384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7DDD2-697D-6FBE-FE57-6236646CD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4448A-35E1-7FC7-F252-9C6BF0E5B3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AEA6E7-A546-CF5C-4C89-75A842528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E3C06-9D0B-4F97-833D-9A2DBA8E5204}" type="datetimeFigureOut">
              <a:rPr lang="en-IN" smtClean="0"/>
              <a:pPr/>
              <a:t>27-07-2026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14177-6E0A-E477-0761-5F44601A1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04AAF6-31EB-975B-BB01-75CA187F2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C66EA-E919-4980-A300-794C648409F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5398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65F21-ECE1-04AD-D6F1-7E01992A5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96DD50-D566-842E-B87C-DC9C4A768E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F7B2B7-E756-7A4D-0737-92A9D74D8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426C38-467A-ACC5-61C8-EBA6A1525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E3C06-9D0B-4F97-833D-9A2DBA8E5204}" type="datetimeFigureOut">
              <a:rPr lang="en-IN" smtClean="0"/>
              <a:pPr/>
              <a:t>27-07-2026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E82118-46D5-703D-2E8A-514D95678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05318F-A02A-3BC7-DDF0-11AC69220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C66EA-E919-4980-A300-794C648409F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3795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43E28-C99C-E5B5-6C2E-0EF699B26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C83A24-E314-0A9B-0988-7FF2807A2E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9BC98-BCAF-963B-8AE8-07DE0FB0E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E3C06-9D0B-4F97-833D-9A2DBA8E5204}" type="datetimeFigureOut">
              <a:rPr lang="en-IN" smtClean="0"/>
              <a:pPr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14143-B42B-5A00-DC33-1755449D5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04D05-A302-16AF-5E5E-85F0DA7B1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C66EA-E919-4980-A300-794C648409F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9195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27D0C4-EC09-02C0-2AE1-E8AEB6FEBD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D91620-284B-C664-4DC9-A4842C29DD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97760-6AAC-2B69-2E57-652E9F4C1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E3C06-9D0B-4F97-833D-9A2DBA8E5204}" type="datetimeFigureOut">
              <a:rPr lang="en-IN" smtClean="0"/>
              <a:pPr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FFCCA-E671-DF22-7223-B626FE0FA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16507-D711-BB5A-CBF7-889AA84C1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C66EA-E919-4980-A300-794C648409F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3289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C86981-E130-FECA-0A98-C93C478DE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19E156-7AE6-D8E1-C400-876BF3ECC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A6A4A-648A-8765-6212-33FCECE1B7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9E3C06-9D0B-4F97-833D-9A2DBA8E5204}" type="datetimeFigureOut">
              <a:rPr lang="en-IN" smtClean="0"/>
              <a:pPr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12180F-3651-4554-F5AE-DD2719DE55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8552F-EB02-F8A0-8AE9-1EEDA12961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3C66EA-E919-4980-A300-794C648409F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8497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chartjs.org/docs/latest/getting-started/usage?utm_source=chatgpt.com" TargetMode="External"/><Relationship Id="rId4" Type="http://schemas.openxmlformats.org/officeDocument/2006/relationships/hyperlink" Target="https://developer.mozilla.org/en-US/docs/Web/index.html?utm_source=chatgpt.com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A2180-DB81-A380-E6C2-AC1BD4C3F2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0580" y="2903720"/>
            <a:ext cx="10412900" cy="1730891"/>
          </a:xfrm>
        </p:spPr>
        <p:txBody>
          <a:bodyPr>
            <a:no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SMART PERSONAL PRODUCTIVITY DASHBOARD USING QUEUE-BASED TASK SCHEDULING, TREE-BASED GOAL MANAGEMENT, STACK-BASED ACTIVITY HISTORY, AND HASH-BASED UNIVERSAL SEARCH</a:t>
            </a:r>
          </a:p>
        </p:txBody>
      </p:sp>
      <p:pic>
        <p:nvPicPr>
          <p:cNvPr id="4" name="Image 1">
            <a:extLst>
              <a:ext uri="{FF2B5EF4-FFF2-40B4-BE49-F238E27FC236}">
                <a16:creationId xmlns:a16="http://schemas.microsoft.com/office/drawing/2014/main" id="{671A3612-F709-9658-6011-949CC07CD9F3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58515" y="112461"/>
            <a:ext cx="10074965" cy="13344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3AF3F9E-6C09-BF60-3FC7-A72F760655D3}"/>
              </a:ext>
            </a:extLst>
          </p:cNvPr>
          <p:cNvSpPr txBox="1"/>
          <p:nvPr/>
        </p:nvSpPr>
        <p:spPr>
          <a:xfrm>
            <a:off x="187342" y="5257929"/>
            <a:ext cx="359118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K. KIRUTHIKA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C26444-3285-F7E9-D6C3-731C33805B87}"/>
              </a:ext>
            </a:extLst>
          </p:cNvPr>
          <p:cNvSpPr txBox="1"/>
          <p:nvPr/>
        </p:nvSpPr>
        <p:spPr>
          <a:xfrm>
            <a:off x="8101781" y="4911680"/>
            <a:ext cx="409021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PURUSHOTHAMAN. V – 192511064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KAVIN ADHITHYA R.S – 192511365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MOHAMMED JILAN. S - 192521386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16503D-457B-35A3-8954-31B552899779}"/>
              </a:ext>
            </a:extLst>
          </p:cNvPr>
          <p:cNvSpPr txBox="1"/>
          <p:nvPr/>
        </p:nvSpPr>
        <p:spPr>
          <a:xfrm>
            <a:off x="4060657" y="2444714"/>
            <a:ext cx="40706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 PRESENTATION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46631A-B6E2-2E55-2C02-CD5720C65195}"/>
              </a:ext>
            </a:extLst>
          </p:cNvPr>
          <p:cNvSpPr txBox="1"/>
          <p:nvPr/>
        </p:nvSpPr>
        <p:spPr>
          <a:xfrm>
            <a:off x="4296691" y="1990673"/>
            <a:ext cx="35986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CSA0307 – DATA STRUCTURE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5274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E226C-C18A-4EA2-F0BB-B79B73D8A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FB54C-A50B-0F14-E7AA-B1CB9CDD8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1666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smart dashboard that helps users manage their daily tasks, goals, and notes in one place. </a:t>
            </a:r>
          </a:p>
          <a:p>
            <a:pPr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personal productivity by organizing schedules, tracking progress, and monitoring daily activities. </a:t>
            </a:r>
          </a:p>
          <a:p>
            <a:pPr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demonstrate the practical use of data structures such as Queue, Tree, Stack, and Hash Map in a real-world application. </a:t>
            </a:r>
          </a:p>
          <a:p>
            <a:pPr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simple, user-friendly, and efficient dashboard for students and professionals to manage their daily work</a:t>
            </a:r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958A62C2-AA39-7ABD-14ED-6592F58118EE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30392" y="308265"/>
            <a:ext cx="1224052" cy="1251155"/>
          </a:xfrm>
          <a:prstGeom prst="rect">
            <a:avLst/>
          </a:prstGeom>
          <a:ln/>
        </p:spPr>
      </p:pic>
      <p:pic>
        <p:nvPicPr>
          <p:cNvPr id="5" name="Picture 4" descr="A logo of a company&#10;&#10;AI-generated content may be incorrect.">
            <a:extLst>
              <a:ext uri="{FF2B5EF4-FFF2-40B4-BE49-F238E27FC236}">
                <a16:creationId xmlns:a16="http://schemas.microsoft.com/office/drawing/2014/main" id="{6B24E6A3-2243-584D-7043-54BB06650D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7556" y="0"/>
            <a:ext cx="1354444" cy="2031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680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7BCA1-021B-1F25-FD46-83210A264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17EFCC3-0C28-F932-CE08-9C1CD50657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5403972"/>
              </p:ext>
            </p:extLst>
          </p:nvPr>
        </p:nvGraphicFramePr>
        <p:xfrm>
          <a:off x="752354" y="1924050"/>
          <a:ext cx="10995952" cy="4568825"/>
        </p:xfrm>
        <a:graphic>
          <a:graphicData uri="http://schemas.openxmlformats.org/drawingml/2006/table">
            <a:tbl>
              <a:tblPr/>
              <a:tblGrid>
                <a:gridCol w="1076446">
                  <a:extLst>
                    <a:ext uri="{9D8B030D-6E8A-4147-A177-3AD203B41FA5}">
                      <a16:colId xmlns:a16="http://schemas.microsoft.com/office/drawing/2014/main" val="140190934"/>
                    </a:ext>
                  </a:extLst>
                </a:gridCol>
                <a:gridCol w="4421530">
                  <a:extLst>
                    <a:ext uri="{9D8B030D-6E8A-4147-A177-3AD203B41FA5}">
                      <a16:colId xmlns:a16="http://schemas.microsoft.com/office/drawing/2014/main" val="2600472685"/>
                    </a:ext>
                  </a:extLst>
                </a:gridCol>
                <a:gridCol w="2748988">
                  <a:extLst>
                    <a:ext uri="{9D8B030D-6E8A-4147-A177-3AD203B41FA5}">
                      <a16:colId xmlns:a16="http://schemas.microsoft.com/office/drawing/2014/main" val="1172253548"/>
                    </a:ext>
                  </a:extLst>
                </a:gridCol>
                <a:gridCol w="2748988">
                  <a:extLst>
                    <a:ext uri="{9D8B030D-6E8A-4147-A177-3AD203B41FA5}">
                      <a16:colId xmlns:a16="http://schemas.microsoft.com/office/drawing/2014/main" val="168189472"/>
                    </a:ext>
                  </a:extLst>
                </a:gridCol>
              </a:tblGrid>
              <a:tr h="4779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669" marR="56669" marT="28334" marB="28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the Paper</a:t>
                      </a:r>
                    </a:p>
                  </a:txBody>
                  <a:tcPr marL="56669" marR="56669" marT="28334" marB="28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Publisher &amp; Year</a:t>
                      </a:r>
                    </a:p>
                  </a:txBody>
                  <a:tcPr marL="56669" marR="56669" marT="28334" marB="28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Components / Techniques Used</a:t>
                      </a:r>
                    </a:p>
                  </a:txBody>
                  <a:tcPr marL="56669" marR="56669" marT="28334" marB="28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518541"/>
                  </a:ext>
                </a:extLst>
              </a:tr>
              <a:tr h="9497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669" marR="56669" marT="28334" marB="28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 and Development of a Smart Personal Productivity Dashboard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669" marR="56669" marT="28334" marB="28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IEEE, 2024</a:t>
                      </a:r>
                    </a:p>
                  </a:txBody>
                  <a:tcPr marL="56669" marR="56669" marT="28334" marB="28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Dashboard UI, Task Management, Productivity Analytics</a:t>
                      </a:r>
                    </a:p>
                  </a:txBody>
                  <a:tcPr marL="56669" marR="56669" marT="28334" marB="28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2052287"/>
                  </a:ext>
                </a:extLst>
              </a:tr>
              <a:tr h="8876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669" marR="56669" marT="28334" marB="28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Queue-Based Task Scheduling for Personal Productivity Applications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669" marR="56669" marT="28334" marB="28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Springer, 2023</a:t>
                      </a:r>
                    </a:p>
                  </a:txBody>
                  <a:tcPr marL="56669" marR="56669" marT="28334" marB="28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Queue, Task Scheduling, Time Management</a:t>
                      </a:r>
                    </a:p>
                  </a:txBody>
                  <a:tcPr marL="56669" marR="56669" marT="28334" marB="28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5446983"/>
                  </a:ext>
                </a:extLst>
              </a:tr>
              <a:tr h="8876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669" marR="56669" marT="28334" marB="28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Tree-Based Goal Management System for Productivity Applications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669" marR="56669" marT="28334" marB="28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Elsevier, 2024</a:t>
                      </a:r>
                    </a:p>
                  </a:txBody>
                  <a:tcPr marL="56669" marR="56669" marT="28334" marB="28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Tree Data Structure, Goal Hierarchy, Progress Tracking</a:t>
                      </a:r>
                    </a:p>
                  </a:txBody>
                  <a:tcPr marL="56669" marR="56669" marT="28334" marB="28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6692024"/>
                  </a:ext>
                </a:extLst>
              </a:tr>
              <a:tr h="6828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669" marR="56669" marT="28334" marB="28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Hash-Based Universal Search for Personal Information Systems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669" marR="56669" marT="28334" marB="28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ACM Digital Library, 2023</a:t>
                      </a:r>
                    </a:p>
                  </a:txBody>
                  <a:tcPr marL="56669" marR="56669" marT="28334" marB="28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Hash Map, Fast Search, Data Retrieval</a:t>
                      </a:r>
                    </a:p>
                  </a:txBody>
                  <a:tcPr marL="56669" marR="56669" marT="28334" marB="28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1647120"/>
                  </a:ext>
                </a:extLst>
              </a:tr>
              <a:tr h="6828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669" marR="56669" marT="28334" marB="28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Stack-Based Activity History Management in Productivity Systems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669" marR="56669" marT="28334" marB="28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IEEE, 2025</a:t>
                      </a:r>
                    </a:p>
                  </a:txBody>
                  <a:tcPr marL="56669" marR="56669" marT="28334" marB="28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Stack, Activity History, Undo/Redo Operations</a:t>
                      </a:r>
                    </a:p>
                  </a:txBody>
                  <a:tcPr marL="56669" marR="56669" marT="28334" marB="28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200945"/>
                  </a:ext>
                </a:extLst>
              </a:tr>
            </a:tbl>
          </a:graphicData>
        </a:graphic>
      </p:graphicFrame>
      <p:pic>
        <p:nvPicPr>
          <p:cNvPr id="4" name="image1.png">
            <a:extLst>
              <a:ext uri="{FF2B5EF4-FFF2-40B4-BE49-F238E27FC236}">
                <a16:creationId xmlns:a16="http://schemas.microsoft.com/office/drawing/2014/main" id="{25655510-DE71-DBAB-8548-AB8463537C0B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30392" y="308265"/>
            <a:ext cx="1224052" cy="1251155"/>
          </a:xfrm>
          <a:prstGeom prst="rect">
            <a:avLst/>
          </a:prstGeom>
          <a:ln/>
        </p:spPr>
      </p:pic>
      <p:pic>
        <p:nvPicPr>
          <p:cNvPr id="5" name="Picture 4" descr="A logo of a company&#10;&#10;AI-generated content may be incorrect.">
            <a:extLst>
              <a:ext uri="{FF2B5EF4-FFF2-40B4-BE49-F238E27FC236}">
                <a16:creationId xmlns:a16="http://schemas.microsoft.com/office/drawing/2014/main" id="{2813F7D5-C006-1ED7-BC6B-30C28CDFE9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7556" y="0"/>
            <a:ext cx="1354444" cy="2031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620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ECB00-8509-FAC5-FA41-5EBA4EBAA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29C35-9D3C-4857-C0A7-18153A3EC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88526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and professionals often use multiple applications to manage tasks, goals, notes, and schedules, making it difficult to stay organized. </a:t>
            </a:r>
          </a:p>
          <a:p>
            <a:pPr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 between different platforms wastes time and reduces productivity. </a:t>
            </a:r>
          </a:p>
          <a:p>
            <a:pPr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do not efficiently organize information or provide quick access to recent activities and important data. </a:t>
            </a:r>
          </a:p>
          <a:p>
            <a:pPr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Personal Productivity Dashboard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integrates task scheduling, goal management, activity history, and universal search using efficient data structures for better productivity.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F45747EA-1293-BDF9-158E-C7E89B0E44C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30392" y="308265"/>
            <a:ext cx="1224052" cy="1251155"/>
          </a:xfrm>
          <a:prstGeom prst="rect">
            <a:avLst/>
          </a:prstGeom>
          <a:ln/>
        </p:spPr>
      </p:pic>
      <p:pic>
        <p:nvPicPr>
          <p:cNvPr id="5" name="Picture 4" descr="A logo of a company&#10;&#10;AI-generated content may be incorrect.">
            <a:extLst>
              <a:ext uri="{FF2B5EF4-FFF2-40B4-BE49-F238E27FC236}">
                <a16:creationId xmlns:a16="http://schemas.microsoft.com/office/drawing/2014/main" id="{30AA5130-2E2B-A8F1-A12B-DEE94244D9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7556" y="0"/>
            <a:ext cx="1354444" cy="2031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624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CF4B8-2217-ECC7-D1AF-1398FF416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2383B-DB86-F0CC-BC8B-77285BF4A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1666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Personal Productivity Dashboard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manage daily activities in one platform. </a:t>
            </a:r>
          </a:p>
          <a:p>
            <a:pPr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Queue-Based Task Scheduling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efficient task organization.</a:t>
            </a:r>
          </a:p>
          <a:p>
            <a:pPr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Tree-Based Goal Management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organize goals and sub-goals systematically. </a:t>
            </a:r>
          </a:p>
          <a:p>
            <a:pPr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Stack-Based Activity History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Hash-Based Universal Search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quick access and efficient information retrieval.</a:t>
            </a:r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D6A837E6-0CE4-AB11-AB9B-C4475FA65286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30392" y="308265"/>
            <a:ext cx="1224052" cy="1251155"/>
          </a:xfrm>
          <a:prstGeom prst="rect">
            <a:avLst/>
          </a:prstGeom>
          <a:ln/>
        </p:spPr>
      </p:pic>
      <p:pic>
        <p:nvPicPr>
          <p:cNvPr id="6" name="Picture 5" descr="A logo of a company&#10;&#10;AI-generated content may be incorrect.">
            <a:extLst>
              <a:ext uri="{FF2B5EF4-FFF2-40B4-BE49-F238E27FC236}">
                <a16:creationId xmlns:a16="http://schemas.microsoft.com/office/drawing/2014/main" id="{1CACDF96-4CD3-25FF-AFD4-109475EB5D5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7556" y="0"/>
            <a:ext cx="1354444" cy="2031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495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AE2BE-3C37-4423-9FA0-B17897CEB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ARCHITECTURE</a:t>
            </a:r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94527F71-5DFA-C03C-2126-BF3E1394441A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30392" y="308265"/>
            <a:ext cx="1224052" cy="1251155"/>
          </a:xfrm>
          <a:prstGeom prst="rect">
            <a:avLst/>
          </a:prstGeom>
          <a:ln/>
        </p:spPr>
      </p:pic>
      <p:pic>
        <p:nvPicPr>
          <p:cNvPr id="5" name="Picture 4" descr="A logo of a company&#10;&#10;AI-generated content may be incorrect.">
            <a:extLst>
              <a:ext uri="{FF2B5EF4-FFF2-40B4-BE49-F238E27FC236}">
                <a16:creationId xmlns:a16="http://schemas.microsoft.com/office/drawing/2014/main" id="{ECEDA937-F43E-7367-6044-9A4742FCE5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7556" y="0"/>
            <a:ext cx="1354444" cy="2031666"/>
          </a:xfrm>
          <a:prstGeom prst="rect">
            <a:avLst/>
          </a:prstGeom>
        </p:spPr>
      </p:pic>
      <p:sp>
        <p:nvSpPr>
          <p:cNvPr id="6" name="AutoShape 2" descr="System architecture for video streaming buffers">
            <a:extLst>
              <a:ext uri="{FF2B5EF4-FFF2-40B4-BE49-F238E27FC236}">
                <a16:creationId xmlns:a16="http://schemas.microsoft.com/office/drawing/2014/main" id="{97F03752-AE70-81A9-63EF-3320588437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0AD7C3DD-6B8D-7D92-43A2-79680825CF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635" y="1405731"/>
            <a:ext cx="9244730" cy="517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62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C42FA-D0B0-B1B0-342E-0EBB81F78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64AFB-C459-CF31-D078-521F401DF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5813"/>
            <a:ext cx="10515600" cy="4351338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Login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The user accesses the Smart Productivity Dashboard.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Entry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The user adds tasks, goals, notes, and daily activities.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Queue schedules tasks, Tree organizes goals, Stack stores activity history, and Hash Map enables fast search.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All information is saved in the database.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Output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The system displays productivity insights, task status, goal progress, and search results.</a:t>
            </a:r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ABC1D14D-E2BA-E3FA-A979-4F28F67F08AE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30392" y="308265"/>
            <a:ext cx="1224052" cy="1251155"/>
          </a:xfrm>
          <a:prstGeom prst="rect">
            <a:avLst/>
          </a:prstGeom>
          <a:ln/>
        </p:spPr>
      </p:pic>
      <p:pic>
        <p:nvPicPr>
          <p:cNvPr id="6" name="Picture 5" descr="A logo of a company&#10;&#10;AI-generated content may be incorrect.">
            <a:extLst>
              <a:ext uri="{FF2B5EF4-FFF2-40B4-BE49-F238E27FC236}">
                <a16:creationId xmlns:a16="http://schemas.microsoft.com/office/drawing/2014/main" id="{12881497-112C-C86C-841D-D0E3F66637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7556" y="0"/>
            <a:ext cx="1354444" cy="2031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414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77770-A0A5-9DA0-DEA0-B1269BEDC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nb-N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3BE26-6DA0-47AB-BA78-4C1F3E056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419" y="1998558"/>
            <a:ext cx="5407742" cy="4421769"/>
          </a:xfrm>
        </p:spPr>
        <p:txBody>
          <a:bodyPr>
            <a:no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4 – Quality Education</a:t>
            </a:r>
          </a:p>
          <a:p>
            <a:pPr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study planning and time management. </a:t>
            </a:r>
          </a:p>
          <a:p>
            <a:pPr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students organize tasks, notes, and goals. </a:t>
            </a:r>
          </a:p>
          <a:p>
            <a:pPr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productivity and learning efficiency. </a:t>
            </a:r>
          </a:p>
          <a:p>
            <a:pPr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better academic performance. </a:t>
            </a:r>
          </a:p>
          <a:p>
            <a:pPr marL="0" indent="0">
              <a:lnSpc>
                <a:spcPct val="20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F14B990B-2AEA-3960-47B0-EB04E876C7A1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30392" y="308265"/>
            <a:ext cx="1224052" cy="1251155"/>
          </a:xfrm>
          <a:prstGeom prst="rect">
            <a:avLst/>
          </a:prstGeom>
          <a:ln/>
        </p:spPr>
      </p:pic>
      <p:pic>
        <p:nvPicPr>
          <p:cNvPr id="5" name="Picture 4" descr="A logo of a company&#10;&#10;AI-generated content may be incorrect.">
            <a:extLst>
              <a:ext uri="{FF2B5EF4-FFF2-40B4-BE49-F238E27FC236}">
                <a16:creationId xmlns:a16="http://schemas.microsoft.com/office/drawing/2014/main" id="{E97DA5BD-539A-4B86-E739-7F165B92AC9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7556" y="0"/>
            <a:ext cx="1354444" cy="20316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28EC1A3-DAE8-A2B1-0D97-AF0EE874A335}"/>
              </a:ext>
            </a:extLst>
          </p:cNvPr>
          <p:cNvSpPr txBox="1"/>
          <p:nvPr/>
        </p:nvSpPr>
        <p:spPr>
          <a:xfrm>
            <a:off x="6548284" y="1998558"/>
            <a:ext cx="5643716" cy="1845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8 – Decent Work and Economic Growth</a:t>
            </a:r>
          </a:p>
          <a:p>
            <a:pPr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personal productivity and work efficiency. </a:t>
            </a:r>
          </a:p>
          <a:p>
            <a:pPr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professionals manage daily tasks effectively.</a:t>
            </a:r>
          </a:p>
        </p:txBody>
      </p:sp>
    </p:spTree>
    <p:extLst>
      <p:ext uri="{BB962C8B-B14F-4D97-AF65-F5344CB8AC3E}">
        <p14:creationId xmlns:p14="http://schemas.microsoft.com/office/powerpoint/2010/main" val="2964094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D3CD4-211D-8559-84F2-43487049D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32CAC-B205-EAAD-2ECA-4D1287A3B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4545"/>
            <a:ext cx="10515600" cy="474107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LifeOS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Smart Personal Productivity Dashboard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simple and efficient way to manage daily tasks, goals, notes, and activities in one platform. 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demonstrates the practical application of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Queue, Tree, Stack, and Hash Map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structures in solving real-world productivity problems. 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improves organization, saves time, and enables quick access to information through a user-friendly interface. 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can be further enhanced by integrating AI features, cloud storage, and mobile support in the future.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822316DB-40D0-B944-9DE2-8760D1D76C82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30392" y="308265"/>
            <a:ext cx="1224052" cy="1251155"/>
          </a:xfrm>
          <a:prstGeom prst="rect">
            <a:avLst/>
          </a:prstGeom>
          <a:ln/>
        </p:spPr>
      </p:pic>
      <p:pic>
        <p:nvPicPr>
          <p:cNvPr id="5" name="Picture 4" descr="A logo of a company&#10;&#10;AI-generated content may be incorrect.">
            <a:extLst>
              <a:ext uri="{FF2B5EF4-FFF2-40B4-BE49-F238E27FC236}">
                <a16:creationId xmlns:a16="http://schemas.microsoft.com/office/drawing/2014/main" id="{DD1C5C1A-733B-210A-AF92-AE996BED06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7556" y="0"/>
            <a:ext cx="1354444" cy="2031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515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.png">
            <a:extLst>
              <a:ext uri="{FF2B5EF4-FFF2-40B4-BE49-F238E27FC236}">
                <a16:creationId xmlns:a16="http://schemas.microsoft.com/office/drawing/2014/main" id="{FE5869DD-5D86-D534-B65D-DA2E0A150565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30392" y="308265"/>
            <a:ext cx="1224052" cy="1251155"/>
          </a:xfrm>
          <a:prstGeom prst="rect">
            <a:avLst/>
          </a:prstGeom>
          <a:ln/>
        </p:spPr>
      </p:pic>
      <p:pic>
        <p:nvPicPr>
          <p:cNvPr id="5" name="Picture 4" descr="A logo of a company&#10;&#10;AI-generated content may be incorrect.">
            <a:extLst>
              <a:ext uri="{FF2B5EF4-FFF2-40B4-BE49-F238E27FC236}">
                <a16:creationId xmlns:a16="http://schemas.microsoft.com/office/drawing/2014/main" id="{6E4F6FC9-1A6F-0475-8E4C-7EA9F81B87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7556" y="0"/>
            <a:ext cx="1354444" cy="203166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DE2C5C3-FF94-16FF-7F16-066B67A6F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4D8ED3A-1E5B-2BB8-E136-1E549DCD5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418" y="1924545"/>
            <a:ext cx="10911840" cy="4724111"/>
          </a:xfrm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Cormen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T. H.,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Leiserson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 E., Rivest, R. L., &amp; Stein, C. (2022).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Algorithms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(4th Edition).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 Press. Jay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Wengrow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(2020).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Common-Sense Guide to Data Structures and Algorithms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(2nd Edition).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Pragmatic Bookshelf.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Loiane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Groner. (2023).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and Algorithms in JavaScript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(3rd Edition).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Packt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Publishing.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MDN Web Docs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HTML, CSS, and JavaScript Documentation.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Chart.js Documentation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Documentation for interactive dashboard charts.</a:t>
            </a:r>
          </a:p>
        </p:txBody>
      </p:sp>
    </p:spTree>
    <p:extLst>
      <p:ext uri="{BB962C8B-B14F-4D97-AF65-F5344CB8AC3E}">
        <p14:creationId xmlns:p14="http://schemas.microsoft.com/office/powerpoint/2010/main" val="4017845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.png">
            <a:extLst>
              <a:ext uri="{FF2B5EF4-FFF2-40B4-BE49-F238E27FC236}">
                <a16:creationId xmlns:a16="http://schemas.microsoft.com/office/drawing/2014/main" id="{231C15A3-8466-6B67-7117-307E86C12C25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30392" y="308265"/>
            <a:ext cx="1224052" cy="1251155"/>
          </a:xfrm>
          <a:prstGeom prst="rect">
            <a:avLst/>
          </a:prstGeom>
          <a:ln/>
        </p:spPr>
      </p:pic>
      <p:pic>
        <p:nvPicPr>
          <p:cNvPr id="5" name="Picture 4" descr="A logo of a company&#10;&#10;AI-generated content may be incorrect.">
            <a:extLst>
              <a:ext uri="{FF2B5EF4-FFF2-40B4-BE49-F238E27FC236}">
                <a16:creationId xmlns:a16="http://schemas.microsoft.com/office/drawing/2014/main" id="{4E698FCF-7AD2-F09D-AB7F-DD6709E668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7556" y="0"/>
            <a:ext cx="1354444" cy="2031666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D761596-ECB0-56B7-EF7C-3D14A0D007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4206" y="2543051"/>
            <a:ext cx="6363588" cy="177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829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BD578A-7AB4-44EE-858B-D6E799D163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729" y="514350"/>
            <a:ext cx="7796893" cy="582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695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726</Words>
  <Application>Microsoft Office PowerPoint</Application>
  <PresentationFormat>Widescreen</PresentationFormat>
  <Paragraphs>78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Times New Roman</vt:lpstr>
      <vt:lpstr>Office Theme</vt:lpstr>
      <vt:lpstr>A SMART PERSONAL PRODUCTIVITY DASHBOARD USING QUEUE-BASED TASK SCHEDULING, TREE-BASED GOAL MANAGEMENT, STACK-BASED ACTIVITY HISTORY, AND HASH-BASED UNIVERSAL SEARCH</vt:lpstr>
      <vt:lpstr>OBJECTIVES</vt:lpstr>
      <vt:lpstr>LITERATURE REVIEW</vt:lpstr>
      <vt:lpstr>PROBLEM STATEMENT</vt:lpstr>
      <vt:lpstr>PROPOSED OBJECTIVE</vt:lpstr>
      <vt:lpstr> SYSTEM ARCHITECTURE</vt:lpstr>
      <vt:lpstr>METHODOLOGY</vt:lpstr>
      <vt:lpstr>SDG</vt:lpstr>
      <vt:lpstr>CONCLUSION</vt:lpstr>
      <vt:lpstr>REFERENCES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ESP32-BASED AC VOLTAGE MONITORING AND AUTOMATIC PROTECTION SYSTEM WITH REAL-TIME DISPLAY</dc:title>
  <dc:creator>Purushoth V</dc:creator>
  <cp:lastModifiedBy>kavin rs</cp:lastModifiedBy>
  <cp:revision>6</cp:revision>
  <dcterms:created xsi:type="dcterms:W3CDTF">2026-05-01T13:03:36Z</dcterms:created>
  <dcterms:modified xsi:type="dcterms:W3CDTF">2026-07-27T11:21:34Z</dcterms:modified>
</cp:coreProperties>
</file>